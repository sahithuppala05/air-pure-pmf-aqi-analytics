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Bricolage Grotesque" panose="020B0604020202020204" charset="0"/>
      <p:regular r:id="rId9"/>
    </p:embeddedFont>
    <p:embeddedFont>
      <p:font typeface="Bricolage Grotesque Bold" panose="020B0604020202020204" charset="0"/>
      <p:regular r:id="rId10"/>
    </p:embeddedFont>
    <p:embeddedFont>
      <p:font typeface="Canva Sans Bold" panose="020B0604020202020204" charset="0"/>
      <p:regular r:id="rId11"/>
    </p:embeddedFont>
    <p:embeddedFont>
      <p:font typeface="Montserrat" panose="00000500000000000000" pitchFamily="2" charset="0"/>
      <p:regular r:id="rId12"/>
    </p:embeddedFont>
    <p:embeddedFont>
      <p:font typeface="Montserrat Bold"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5.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pn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3.svg"/><Relationship Id="rId5" Type="http://schemas.openxmlformats.org/officeDocument/2006/relationships/image" Target="../media/image9.png"/><Relationship Id="rId10" Type="http://schemas.openxmlformats.org/officeDocument/2006/relationships/image" Target="../media/image12.png"/><Relationship Id="rId4" Type="http://schemas.openxmlformats.org/officeDocument/2006/relationships/image" Target="../media/image8.svg"/><Relationship Id="rId9" Type="http://schemas.openxmlformats.org/officeDocument/2006/relationships/image" Target="../media/image11.svg"/></Relationships>
</file>

<file path=ppt/slides/_rels/slide3.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7.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svg"/><Relationship Id="rId11" Type="http://schemas.openxmlformats.org/officeDocument/2006/relationships/image" Target="../media/image14.png"/><Relationship Id="rId5" Type="http://schemas.openxmlformats.org/officeDocument/2006/relationships/image" Target="../media/image5.png"/><Relationship Id="rId10" Type="http://schemas.openxmlformats.org/officeDocument/2006/relationships/image" Target="../media/image13.svg"/><Relationship Id="rId4" Type="http://schemas.openxmlformats.org/officeDocument/2006/relationships/image" Target="../media/image8.sv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7.svg"/><Relationship Id="rId4" Type="http://schemas.openxmlformats.org/officeDocument/2006/relationships/image" Target="../media/image8.sv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7.png"/><Relationship Id="rId7" Type="http://schemas.openxmlformats.org/officeDocument/2006/relationships/image" Target="../media/image10.png"/><Relationship Id="rId12" Type="http://schemas.openxmlformats.org/officeDocument/2006/relationships/image" Target="../media/image1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svg"/><Relationship Id="rId11" Type="http://schemas.openxmlformats.org/officeDocument/2006/relationships/image" Target="../media/image18.png"/><Relationship Id="rId5" Type="http://schemas.openxmlformats.org/officeDocument/2006/relationships/image" Target="../media/image5.png"/><Relationship Id="rId10" Type="http://schemas.openxmlformats.org/officeDocument/2006/relationships/image" Target="../media/image13.svg"/><Relationship Id="rId4" Type="http://schemas.openxmlformats.org/officeDocument/2006/relationships/image" Target="../media/image8.sv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7.png"/><Relationship Id="rId7" Type="http://schemas.openxmlformats.org/officeDocument/2006/relationships/image" Target="../media/image10.png"/><Relationship Id="rId12"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svg"/><Relationship Id="rId11" Type="http://schemas.openxmlformats.org/officeDocument/2006/relationships/image" Target="../media/image20.png"/><Relationship Id="rId5" Type="http://schemas.openxmlformats.org/officeDocument/2006/relationships/image" Target="../media/image5.png"/><Relationship Id="rId10" Type="http://schemas.openxmlformats.org/officeDocument/2006/relationships/image" Target="../media/image13.svg"/><Relationship Id="rId4" Type="http://schemas.openxmlformats.org/officeDocument/2006/relationships/image" Target="../media/image8.sv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5638" b="-75638"/>
            </a:stretch>
          </a:blipFill>
        </p:spPr>
      </p:sp>
      <p:sp>
        <p:nvSpPr>
          <p:cNvPr id="3" name="Freeform 3"/>
          <p:cNvSpPr/>
          <p:nvPr/>
        </p:nvSpPr>
        <p:spPr>
          <a:xfrm>
            <a:off x="1028700" y="1206832"/>
            <a:ext cx="6630724" cy="6740253"/>
          </a:xfrm>
          <a:custGeom>
            <a:avLst/>
            <a:gdLst/>
            <a:ahLst/>
            <a:cxnLst/>
            <a:rect l="l" t="t" r="r" b="b"/>
            <a:pathLst>
              <a:path w="6630724" h="6740253">
                <a:moveTo>
                  <a:pt x="0" y="0"/>
                </a:moveTo>
                <a:lnTo>
                  <a:pt x="6630724" y="0"/>
                </a:lnTo>
                <a:lnTo>
                  <a:pt x="6630724" y="6740253"/>
                </a:lnTo>
                <a:lnTo>
                  <a:pt x="0" y="6740253"/>
                </a:lnTo>
                <a:lnTo>
                  <a:pt x="0" y="0"/>
                </a:lnTo>
                <a:close/>
              </a:path>
            </a:pathLst>
          </a:custGeom>
          <a:blipFill>
            <a:blip r:embed="rId3"/>
            <a:stretch>
              <a:fillRect/>
            </a:stretch>
          </a:blipFill>
        </p:spPr>
      </p:sp>
      <p:sp>
        <p:nvSpPr>
          <p:cNvPr id="4" name="Freeform 4"/>
          <p:cNvSpPr/>
          <p:nvPr/>
        </p:nvSpPr>
        <p:spPr>
          <a:xfrm>
            <a:off x="-139123" y="-222876"/>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14173200" y="-222876"/>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8297875" y="2119863"/>
            <a:ext cx="9144000" cy="1519262"/>
          </a:xfrm>
          <a:prstGeom prst="rect">
            <a:avLst/>
          </a:prstGeom>
        </p:spPr>
        <p:txBody>
          <a:bodyPr lIns="0" tIns="0" rIns="0" bIns="0" rtlCol="0" anchor="t">
            <a:spAutoFit/>
          </a:bodyPr>
          <a:lstStyle/>
          <a:p>
            <a:pPr algn="l">
              <a:lnSpc>
                <a:spcPts val="3865"/>
              </a:lnSpc>
            </a:pPr>
            <a:r>
              <a:rPr lang="en-US" sz="4156" b="1" dirty="0">
                <a:solidFill>
                  <a:srgbClr val="000000"/>
                </a:solidFill>
                <a:latin typeface="Canva Sans Bold"/>
                <a:ea typeface="Canva Sans Bold"/>
                <a:cs typeface="Canva Sans Bold"/>
                <a:sym typeface="Canva Sans Bold"/>
              </a:rPr>
              <a:t>PROJECT TITLE</a:t>
            </a:r>
          </a:p>
          <a:p>
            <a:pPr algn="l">
              <a:lnSpc>
                <a:spcPts val="3865"/>
              </a:lnSpc>
            </a:pPr>
            <a:endParaRPr lang="en-US" sz="4156" b="1" dirty="0">
              <a:solidFill>
                <a:srgbClr val="000000"/>
              </a:solidFill>
              <a:latin typeface="Canva Sans Bold"/>
              <a:ea typeface="Canva Sans Bold"/>
              <a:cs typeface="Canva Sans Bold"/>
              <a:sym typeface="Canva Sans Bold"/>
            </a:endParaRPr>
          </a:p>
          <a:p>
            <a:pPr algn="l">
              <a:lnSpc>
                <a:spcPts val="3865"/>
              </a:lnSpc>
            </a:pPr>
            <a:r>
              <a:rPr lang="en-US" sz="4156" dirty="0">
                <a:solidFill>
                  <a:srgbClr val="000000"/>
                </a:solidFill>
                <a:latin typeface="Bricolage Grotesque"/>
                <a:ea typeface="Bricolage Grotesque"/>
                <a:cs typeface="Bricolage Grotesque"/>
                <a:sym typeface="Bricolage Grotesque"/>
              </a:rPr>
              <a:t>AIR PURE PMF AQI ANALYTICS</a:t>
            </a:r>
          </a:p>
        </p:txBody>
      </p:sp>
      <p:sp>
        <p:nvSpPr>
          <p:cNvPr id="7" name="TextBox 7"/>
          <p:cNvSpPr txBox="1"/>
          <p:nvPr/>
        </p:nvSpPr>
        <p:spPr>
          <a:xfrm>
            <a:off x="8297875" y="6089626"/>
            <a:ext cx="5085355" cy="671599"/>
          </a:xfrm>
          <a:prstGeom prst="rect">
            <a:avLst/>
          </a:prstGeom>
        </p:spPr>
        <p:txBody>
          <a:bodyPr lIns="0" tIns="0" rIns="0" bIns="0" rtlCol="0" anchor="t">
            <a:spAutoFit/>
          </a:bodyPr>
          <a:lstStyle/>
          <a:p>
            <a:pPr algn="l">
              <a:lnSpc>
                <a:spcPts val="5534"/>
              </a:lnSpc>
            </a:pPr>
            <a:r>
              <a:rPr lang="en-US" sz="3953">
                <a:solidFill>
                  <a:srgbClr val="000000"/>
                </a:solidFill>
                <a:latin typeface="Montserrat"/>
                <a:ea typeface="Montserrat"/>
                <a:cs typeface="Montserrat"/>
                <a:sym typeface="Montserrat"/>
              </a:rPr>
              <a:t>Presented By :</a:t>
            </a:r>
          </a:p>
        </p:txBody>
      </p:sp>
      <p:sp>
        <p:nvSpPr>
          <p:cNvPr id="8" name="TextBox 8"/>
          <p:cNvSpPr txBox="1"/>
          <p:nvPr/>
        </p:nvSpPr>
        <p:spPr>
          <a:xfrm>
            <a:off x="9827858" y="6961747"/>
            <a:ext cx="6084033" cy="678178"/>
          </a:xfrm>
          <a:prstGeom prst="rect">
            <a:avLst/>
          </a:prstGeom>
        </p:spPr>
        <p:txBody>
          <a:bodyPr lIns="0" tIns="0" rIns="0" bIns="0" rtlCol="0" anchor="t">
            <a:spAutoFit/>
          </a:bodyPr>
          <a:lstStyle/>
          <a:p>
            <a:pPr algn="l">
              <a:lnSpc>
                <a:spcPts val="5670"/>
              </a:lnSpc>
            </a:pPr>
            <a:r>
              <a:rPr lang="en-US" sz="4050" b="1">
                <a:solidFill>
                  <a:srgbClr val="000000"/>
                </a:solidFill>
                <a:latin typeface="Montserrat Bold"/>
                <a:ea typeface="Montserrat Bold"/>
                <a:cs typeface="Montserrat Bold"/>
                <a:sym typeface="Montserrat Bold"/>
              </a:rPr>
              <a:t>SAHITH UPPALA</a:t>
            </a:r>
          </a:p>
        </p:txBody>
      </p:sp>
      <p:sp>
        <p:nvSpPr>
          <p:cNvPr id="9" name="Freeform 9"/>
          <p:cNvSpPr/>
          <p:nvPr/>
        </p:nvSpPr>
        <p:spPr>
          <a:xfrm flipH="1">
            <a:off x="15275067" y="8859650"/>
            <a:ext cx="1984233" cy="797301"/>
          </a:xfrm>
          <a:custGeom>
            <a:avLst/>
            <a:gdLst/>
            <a:ahLst/>
            <a:cxnLst/>
            <a:rect l="l" t="t" r="r" b="b"/>
            <a:pathLst>
              <a:path w="1984233" h="797301">
                <a:moveTo>
                  <a:pt x="1984233" y="0"/>
                </a:moveTo>
                <a:lnTo>
                  <a:pt x="0" y="0"/>
                </a:lnTo>
                <a:lnTo>
                  <a:pt x="0" y="797300"/>
                </a:lnTo>
                <a:lnTo>
                  <a:pt x="1984233" y="797300"/>
                </a:lnTo>
                <a:lnTo>
                  <a:pt x="1984233"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5638" b="-75638"/>
            </a:stretch>
          </a:blipFill>
        </p:spPr>
      </p:sp>
      <p:sp>
        <p:nvSpPr>
          <p:cNvPr id="3" name="Freeform 3"/>
          <p:cNvSpPr/>
          <p:nvPr/>
        </p:nvSpPr>
        <p:spPr>
          <a:xfrm>
            <a:off x="-983249" y="-343278"/>
            <a:ext cx="6793495" cy="6793495"/>
          </a:xfrm>
          <a:custGeom>
            <a:avLst/>
            <a:gdLst/>
            <a:ahLst/>
            <a:cxnLst/>
            <a:rect l="l" t="t" r="r" b="b"/>
            <a:pathLst>
              <a:path w="6793495" h="6793495">
                <a:moveTo>
                  <a:pt x="0" y="0"/>
                </a:moveTo>
                <a:lnTo>
                  <a:pt x="6793495" y="0"/>
                </a:lnTo>
                <a:lnTo>
                  <a:pt x="6793495" y="6793495"/>
                </a:lnTo>
                <a:lnTo>
                  <a:pt x="0" y="679349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9504405" y="3513934"/>
            <a:ext cx="7754895" cy="5844653"/>
          </a:xfrm>
          <a:prstGeom prst="rect">
            <a:avLst/>
          </a:prstGeom>
        </p:spPr>
        <p:txBody>
          <a:bodyPr lIns="0" tIns="0" rIns="0" bIns="0" rtlCol="0" anchor="t">
            <a:spAutoFit/>
          </a:bodyPr>
          <a:lstStyle/>
          <a:p>
            <a:pPr algn="l">
              <a:lnSpc>
                <a:spcPts val="3353"/>
              </a:lnSpc>
            </a:pPr>
            <a:r>
              <a:rPr lang="en-US" sz="2395">
                <a:solidFill>
                  <a:srgbClr val="000000"/>
                </a:solidFill>
                <a:latin typeface="Montserrat"/>
                <a:ea typeface="Montserrat"/>
                <a:cs typeface="Montserrat"/>
                <a:sym typeface="Montserrat"/>
              </a:rPr>
              <a:t>Air pollution in India has become a major problem that affects people’s health in daily life. Because of this, there is a growing need for solutions like air purifiers. This project uses AQI and health data to:</a:t>
            </a:r>
          </a:p>
          <a:p>
            <a:pPr marL="517200" lvl="1" indent="-258600" algn="l">
              <a:lnSpc>
                <a:spcPts val="3353"/>
              </a:lnSpc>
              <a:buFont typeface="Arial"/>
              <a:buChar char="•"/>
            </a:pPr>
            <a:r>
              <a:rPr lang="en-US" sz="2395">
                <a:solidFill>
                  <a:srgbClr val="000000"/>
                </a:solidFill>
                <a:latin typeface="Montserrat"/>
                <a:ea typeface="Montserrat"/>
                <a:cs typeface="Montserrat"/>
                <a:sym typeface="Montserrat"/>
              </a:rPr>
              <a:t>understand how serious air pollution is across cities</a:t>
            </a:r>
          </a:p>
          <a:p>
            <a:pPr marL="517200" lvl="1" indent="-258600" algn="l">
              <a:lnSpc>
                <a:spcPts val="3353"/>
              </a:lnSpc>
              <a:buFont typeface="Arial"/>
              <a:buChar char="•"/>
            </a:pPr>
            <a:r>
              <a:rPr lang="en-US" sz="2395">
                <a:solidFill>
                  <a:srgbClr val="000000"/>
                </a:solidFill>
                <a:latin typeface="Montserrat"/>
                <a:ea typeface="Montserrat"/>
                <a:cs typeface="Montserrat"/>
                <a:sym typeface="Montserrat"/>
              </a:rPr>
              <a:t>identify locations where demand for air purifiers is high</a:t>
            </a:r>
          </a:p>
          <a:p>
            <a:pPr marL="517200" lvl="1" indent="-258600" algn="l">
              <a:lnSpc>
                <a:spcPts val="3353"/>
              </a:lnSpc>
              <a:buFont typeface="Arial"/>
              <a:buChar char="•"/>
            </a:pPr>
            <a:r>
              <a:rPr lang="en-US" sz="2395">
                <a:solidFill>
                  <a:srgbClr val="000000"/>
                </a:solidFill>
                <a:latin typeface="Montserrat"/>
                <a:ea typeface="Montserrat"/>
                <a:cs typeface="Montserrat"/>
                <a:sym typeface="Montserrat"/>
              </a:rPr>
              <a:t>evaluate whether developing an air purifier is a good business decision</a:t>
            </a:r>
          </a:p>
          <a:p>
            <a:pPr algn="l">
              <a:lnSpc>
                <a:spcPts val="3353"/>
              </a:lnSpc>
            </a:pPr>
            <a:r>
              <a:rPr lang="en-US" sz="2395">
                <a:solidFill>
                  <a:srgbClr val="000000"/>
                </a:solidFill>
                <a:latin typeface="Montserrat"/>
                <a:ea typeface="Montserrat"/>
                <a:cs typeface="Montserrat"/>
                <a:sym typeface="Montserrat"/>
              </a:rPr>
              <a:t>The goal of this project is to support product and business decisions using data rather than assumptions.</a:t>
            </a:r>
          </a:p>
          <a:p>
            <a:pPr algn="l">
              <a:lnSpc>
                <a:spcPts val="3353"/>
              </a:lnSpc>
            </a:pPr>
            <a:endParaRPr lang="en-US" sz="2395">
              <a:solidFill>
                <a:srgbClr val="000000"/>
              </a:solidFill>
              <a:latin typeface="Montserrat"/>
              <a:ea typeface="Montserrat"/>
              <a:cs typeface="Montserrat"/>
              <a:sym typeface="Montserrat"/>
            </a:endParaRPr>
          </a:p>
        </p:txBody>
      </p:sp>
      <p:sp>
        <p:nvSpPr>
          <p:cNvPr id="5" name="TextBox 5"/>
          <p:cNvSpPr txBox="1"/>
          <p:nvPr/>
        </p:nvSpPr>
        <p:spPr>
          <a:xfrm>
            <a:off x="9504405" y="2122155"/>
            <a:ext cx="7754895" cy="1087743"/>
          </a:xfrm>
          <a:prstGeom prst="rect">
            <a:avLst/>
          </a:prstGeom>
        </p:spPr>
        <p:txBody>
          <a:bodyPr lIns="0" tIns="0" rIns="0" bIns="0" rtlCol="0" anchor="t">
            <a:spAutoFit/>
          </a:bodyPr>
          <a:lstStyle/>
          <a:p>
            <a:pPr algn="l">
              <a:lnSpc>
                <a:spcPts val="8820"/>
              </a:lnSpc>
            </a:pPr>
            <a:r>
              <a:rPr lang="en-US" sz="6300" b="1">
                <a:solidFill>
                  <a:srgbClr val="000000"/>
                </a:solidFill>
                <a:latin typeface="Montserrat Bold"/>
                <a:ea typeface="Montserrat Bold"/>
                <a:cs typeface="Montserrat Bold"/>
                <a:sym typeface="Montserrat Bold"/>
              </a:rPr>
              <a:t>Introduction</a:t>
            </a:r>
          </a:p>
        </p:txBody>
      </p:sp>
      <p:sp>
        <p:nvSpPr>
          <p:cNvPr id="6" name="Freeform 6"/>
          <p:cNvSpPr/>
          <p:nvPr/>
        </p:nvSpPr>
        <p:spPr>
          <a:xfrm>
            <a:off x="2134741" y="2732701"/>
            <a:ext cx="6626589" cy="5698866"/>
          </a:xfrm>
          <a:custGeom>
            <a:avLst/>
            <a:gdLst/>
            <a:ahLst/>
            <a:cxnLst/>
            <a:rect l="l" t="t" r="r" b="b"/>
            <a:pathLst>
              <a:path w="6626589" h="5698866">
                <a:moveTo>
                  <a:pt x="0" y="0"/>
                </a:moveTo>
                <a:lnTo>
                  <a:pt x="6626588" y="0"/>
                </a:lnTo>
                <a:lnTo>
                  <a:pt x="6626588" y="5698867"/>
                </a:lnTo>
                <a:lnTo>
                  <a:pt x="0" y="5698867"/>
                </a:lnTo>
                <a:lnTo>
                  <a:pt x="0" y="0"/>
                </a:lnTo>
                <a:close/>
              </a:path>
            </a:pathLst>
          </a:custGeom>
          <a:blipFill>
            <a:blip r:embed="rId5"/>
            <a:stretch>
              <a:fillRect/>
            </a:stretch>
          </a:blipFill>
        </p:spPr>
      </p:sp>
      <p:sp>
        <p:nvSpPr>
          <p:cNvPr id="7" name="Freeform 7"/>
          <p:cNvSpPr/>
          <p:nvPr/>
        </p:nvSpPr>
        <p:spPr>
          <a:xfrm flipH="1">
            <a:off x="15275067" y="8859650"/>
            <a:ext cx="1984233" cy="797301"/>
          </a:xfrm>
          <a:custGeom>
            <a:avLst/>
            <a:gdLst/>
            <a:ahLst/>
            <a:cxnLst/>
            <a:rect l="l" t="t" r="r" b="b"/>
            <a:pathLst>
              <a:path w="1984233" h="797301">
                <a:moveTo>
                  <a:pt x="1984233" y="0"/>
                </a:moveTo>
                <a:lnTo>
                  <a:pt x="0" y="0"/>
                </a:lnTo>
                <a:lnTo>
                  <a:pt x="0" y="797300"/>
                </a:lnTo>
                <a:lnTo>
                  <a:pt x="1984233" y="797300"/>
                </a:lnTo>
                <a:lnTo>
                  <a:pt x="1984233"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rot="-5400000">
            <a:off x="9560663" y="917722"/>
            <a:ext cx="774110" cy="1153823"/>
          </a:xfrm>
          <a:custGeom>
            <a:avLst/>
            <a:gdLst/>
            <a:ahLst/>
            <a:cxnLst/>
            <a:rect l="l" t="t" r="r" b="b"/>
            <a:pathLst>
              <a:path w="774110" h="1153823">
                <a:moveTo>
                  <a:pt x="0" y="0"/>
                </a:moveTo>
                <a:lnTo>
                  <a:pt x="774110" y="0"/>
                </a:lnTo>
                <a:lnTo>
                  <a:pt x="774110" y="1153823"/>
                </a:lnTo>
                <a:lnTo>
                  <a:pt x="0" y="115382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a:off x="14738211" y="-562766"/>
            <a:ext cx="4096792" cy="4114800"/>
          </a:xfrm>
          <a:custGeom>
            <a:avLst/>
            <a:gdLst/>
            <a:ahLst/>
            <a:cxnLst/>
            <a:rect l="l" t="t" r="r" b="b"/>
            <a:pathLst>
              <a:path w="4096792" h="4114800">
                <a:moveTo>
                  <a:pt x="0" y="0"/>
                </a:moveTo>
                <a:lnTo>
                  <a:pt x="4096792" y="0"/>
                </a:lnTo>
                <a:lnTo>
                  <a:pt x="4096792"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5638" b="-75638"/>
            </a:stretch>
          </a:blipFill>
        </p:spPr>
      </p:sp>
      <p:sp>
        <p:nvSpPr>
          <p:cNvPr id="3" name="Freeform 3"/>
          <p:cNvSpPr/>
          <p:nvPr/>
        </p:nvSpPr>
        <p:spPr>
          <a:xfrm>
            <a:off x="-983249" y="-343278"/>
            <a:ext cx="6793495" cy="6793495"/>
          </a:xfrm>
          <a:custGeom>
            <a:avLst/>
            <a:gdLst/>
            <a:ahLst/>
            <a:cxnLst/>
            <a:rect l="l" t="t" r="r" b="b"/>
            <a:pathLst>
              <a:path w="6793495" h="6793495">
                <a:moveTo>
                  <a:pt x="0" y="0"/>
                </a:moveTo>
                <a:lnTo>
                  <a:pt x="6793495" y="0"/>
                </a:lnTo>
                <a:lnTo>
                  <a:pt x="6793495" y="6793495"/>
                </a:lnTo>
                <a:lnTo>
                  <a:pt x="0" y="679349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7924800" y="2389893"/>
            <a:ext cx="9325939" cy="6725659"/>
          </a:xfrm>
          <a:prstGeom prst="rect">
            <a:avLst/>
          </a:prstGeom>
        </p:spPr>
        <p:txBody>
          <a:bodyPr lIns="0" tIns="0" rIns="0" bIns="0" rtlCol="0" anchor="t">
            <a:spAutoFit/>
          </a:bodyPr>
          <a:lstStyle/>
          <a:p>
            <a:pPr algn="l">
              <a:lnSpc>
                <a:spcPts val="3353"/>
              </a:lnSpc>
            </a:pPr>
            <a:r>
              <a:rPr lang="en-US" sz="2395" dirty="0">
                <a:solidFill>
                  <a:srgbClr val="000000"/>
                </a:solidFill>
                <a:latin typeface="Montserrat"/>
                <a:ea typeface="Montserrat"/>
                <a:cs typeface="Montserrat"/>
                <a:sym typeface="Montserrat"/>
              </a:rPr>
              <a:t>This project studies historical Air Quality Index (AQI) data from 2022 to 2025 along with health, vehicle, and population data to understand how serious air pollution is and to check whether there is a strong demand for air purifiers.</a:t>
            </a:r>
          </a:p>
          <a:p>
            <a:pPr marL="517200" lvl="1" indent="-258600" algn="l">
              <a:lnSpc>
                <a:spcPts val="3353"/>
              </a:lnSpc>
              <a:buAutoNum type="arabicPeriod"/>
            </a:pPr>
            <a:r>
              <a:rPr lang="en-US" sz="2395" dirty="0">
                <a:solidFill>
                  <a:srgbClr val="000000"/>
                </a:solidFill>
                <a:latin typeface="Montserrat"/>
                <a:ea typeface="Montserrat"/>
                <a:cs typeface="Montserrat"/>
                <a:sym typeface="Montserrat"/>
              </a:rPr>
              <a:t>The Collected data is cleaned and prepared using Python.</a:t>
            </a:r>
          </a:p>
          <a:p>
            <a:pPr marL="517200" lvl="1" indent="-258600" algn="l">
              <a:lnSpc>
                <a:spcPts val="3353"/>
              </a:lnSpc>
              <a:buAutoNum type="arabicPeriod"/>
            </a:pPr>
            <a:r>
              <a:rPr lang="en-US" sz="2395" dirty="0">
                <a:solidFill>
                  <a:srgbClr val="000000"/>
                </a:solidFill>
                <a:latin typeface="Montserrat"/>
                <a:ea typeface="Montserrat"/>
                <a:cs typeface="Montserrat"/>
                <a:sym typeface="Montserrat"/>
              </a:rPr>
              <a:t>The data is organized using SQL and analyzed to compare pollution levels across cities and over time, and to study its impact on health.</a:t>
            </a:r>
          </a:p>
          <a:p>
            <a:pPr marL="517200" lvl="1" indent="-258600" algn="l">
              <a:lnSpc>
                <a:spcPts val="3353"/>
              </a:lnSpc>
              <a:buAutoNum type="arabicPeriod"/>
            </a:pPr>
            <a:r>
              <a:rPr lang="en-US" sz="2395" dirty="0">
                <a:solidFill>
                  <a:srgbClr val="000000"/>
                </a:solidFill>
                <a:latin typeface="Montserrat"/>
                <a:ea typeface="Montserrat"/>
                <a:cs typeface="Montserrat"/>
                <a:sym typeface="Montserrat"/>
              </a:rPr>
              <a:t>The results are displayed in Power BI dashboards to highlight highly polluted cities, major pollutants like PM2.5 and PM10, and areas with high air purifier demand.</a:t>
            </a:r>
          </a:p>
          <a:p>
            <a:pPr algn="l">
              <a:lnSpc>
                <a:spcPts val="3353"/>
              </a:lnSpc>
            </a:pPr>
            <a:r>
              <a:rPr lang="en-US" sz="2395" dirty="0">
                <a:solidFill>
                  <a:srgbClr val="000000"/>
                </a:solidFill>
                <a:latin typeface="Montserrat"/>
                <a:ea typeface="Montserrat"/>
                <a:cs typeface="Montserrat"/>
                <a:sym typeface="Montserrat"/>
              </a:rPr>
              <a:t>Overall, this project turns environmental and health data into clear business insights, helping companies decide how to design their products, which cities to target, and whether investing in air purifiers is a good decision.</a:t>
            </a:r>
          </a:p>
          <a:p>
            <a:pPr algn="l">
              <a:lnSpc>
                <a:spcPts val="3353"/>
              </a:lnSpc>
            </a:pPr>
            <a:endParaRPr lang="en-US" sz="2395" dirty="0">
              <a:solidFill>
                <a:srgbClr val="000000"/>
              </a:solidFill>
              <a:latin typeface="Montserrat"/>
              <a:ea typeface="Montserrat"/>
              <a:cs typeface="Montserrat"/>
              <a:sym typeface="Montserrat"/>
            </a:endParaRPr>
          </a:p>
        </p:txBody>
      </p:sp>
      <p:sp>
        <p:nvSpPr>
          <p:cNvPr id="5" name="TextBox 5"/>
          <p:cNvSpPr txBox="1"/>
          <p:nvPr/>
        </p:nvSpPr>
        <p:spPr>
          <a:xfrm>
            <a:off x="7781174" y="895350"/>
            <a:ext cx="8295486" cy="1087743"/>
          </a:xfrm>
          <a:prstGeom prst="rect">
            <a:avLst/>
          </a:prstGeom>
        </p:spPr>
        <p:txBody>
          <a:bodyPr lIns="0" tIns="0" rIns="0" bIns="0" rtlCol="0" anchor="t">
            <a:spAutoFit/>
          </a:bodyPr>
          <a:lstStyle/>
          <a:p>
            <a:pPr algn="l">
              <a:lnSpc>
                <a:spcPts val="8820"/>
              </a:lnSpc>
            </a:pPr>
            <a:r>
              <a:rPr lang="en-US" sz="6300" b="1">
                <a:solidFill>
                  <a:srgbClr val="000000"/>
                </a:solidFill>
                <a:latin typeface="Montserrat Bold"/>
                <a:ea typeface="Montserrat Bold"/>
                <a:cs typeface="Montserrat Bold"/>
                <a:sym typeface="Montserrat Bold"/>
              </a:rPr>
              <a:t>Project Description</a:t>
            </a:r>
          </a:p>
        </p:txBody>
      </p:sp>
      <p:sp>
        <p:nvSpPr>
          <p:cNvPr id="6" name="Freeform 6"/>
          <p:cNvSpPr/>
          <p:nvPr/>
        </p:nvSpPr>
        <p:spPr>
          <a:xfrm flipH="1">
            <a:off x="15631330" y="9189859"/>
            <a:ext cx="1984233" cy="797301"/>
          </a:xfrm>
          <a:custGeom>
            <a:avLst/>
            <a:gdLst/>
            <a:ahLst/>
            <a:cxnLst/>
            <a:rect l="l" t="t" r="r" b="b"/>
            <a:pathLst>
              <a:path w="1984233" h="797301">
                <a:moveTo>
                  <a:pt x="1984233" y="0"/>
                </a:moveTo>
                <a:lnTo>
                  <a:pt x="0" y="0"/>
                </a:lnTo>
                <a:lnTo>
                  <a:pt x="0" y="797301"/>
                </a:lnTo>
                <a:lnTo>
                  <a:pt x="1984233" y="797301"/>
                </a:lnTo>
                <a:lnTo>
                  <a:pt x="1984233"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rot="-5400000">
            <a:off x="5904148" y="838844"/>
            <a:ext cx="774110" cy="1153823"/>
          </a:xfrm>
          <a:custGeom>
            <a:avLst/>
            <a:gdLst/>
            <a:ahLst/>
            <a:cxnLst/>
            <a:rect l="l" t="t" r="r" b="b"/>
            <a:pathLst>
              <a:path w="774110" h="1153823">
                <a:moveTo>
                  <a:pt x="0" y="0"/>
                </a:moveTo>
                <a:lnTo>
                  <a:pt x="774110" y="0"/>
                </a:lnTo>
                <a:lnTo>
                  <a:pt x="774110" y="1153822"/>
                </a:lnTo>
                <a:lnTo>
                  <a:pt x="0" y="115382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8" name="Freeform 8"/>
          <p:cNvSpPr/>
          <p:nvPr/>
        </p:nvSpPr>
        <p:spPr>
          <a:xfrm>
            <a:off x="15784734" y="-2057400"/>
            <a:ext cx="4096792" cy="4114800"/>
          </a:xfrm>
          <a:custGeom>
            <a:avLst/>
            <a:gdLst/>
            <a:ahLst/>
            <a:cxnLst/>
            <a:rect l="l" t="t" r="r" b="b"/>
            <a:pathLst>
              <a:path w="4096792" h="4114800">
                <a:moveTo>
                  <a:pt x="0" y="0"/>
                </a:moveTo>
                <a:lnTo>
                  <a:pt x="4096792" y="0"/>
                </a:lnTo>
                <a:lnTo>
                  <a:pt x="4096792"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9" name="Freeform 9"/>
          <p:cNvSpPr/>
          <p:nvPr/>
        </p:nvSpPr>
        <p:spPr>
          <a:xfrm>
            <a:off x="1811977" y="3053469"/>
            <a:ext cx="5701546" cy="5069193"/>
          </a:xfrm>
          <a:custGeom>
            <a:avLst/>
            <a:gdLst/>
            <a:ahLst/>
            <a:cxnLst/>
            <a:rect l="l" t="t" r="r" b="b"/>
            <a:pathLst>
              <a:path w="5701546" h="5069193">
                <a:moveTo>
                  <a:pt x="0" y="0"/>
                </a:moveTo>
                <a:lnTo>
                  <a:pt x="5701546" y="0"/>
                </a:lnTo>
                <a:lnTo>
                  <a:pt x="5701546" y="5069193"/>
                </a:lnTo>
                <a:lnTo>
                  <a:pt x="0" y="5069193"/>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5638" b="-75638"/>
            </a:stretch>
          </a:blipFill>
        </p:spPr>
      </p:sp>
      <p:sp>
        <p:nvSpPr>
          <p:cNvPr id="3" name="Freeform 3"/>
          <p:cNvSpPr/>
          <p:nvPr/>
        </p:nvSpPr>
        <p:spPr>
          <a:xfrm flipH="1">
            <a:off x="12657835" y="-201517"/>
            <a:ext cx="6500864" cy="6500864"/>
          </a:xfrm>
          <a:custGeom>
            <a:avLst/>
            <a:gdLst/>
            <a:ahLst/>
            <a:cxnLst/>
            <a:rect l="l" t="t" r="r" b="b"/>
            <a:pathLst>
              <a:path w="6500864" h="6500864">
                <a:moveTo>
                  <a:pt x="6500864" y="0"/>
                </a:moveTo>
                <a:lnTo>
                  <a:pt x="0" y="0"/>
                </a:lnTo>
                <a:lnTo>
                  <a:pt x="0" y="6500864"/>
                </a:lnTo>
                <a:lnTo>
                  <a:pt x="6500864" y="6500864"/>
                </a:lnTo>
                <a:lnTo>
                  <a:pt x="6500864"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a:off x="1028700" y="8859650"/>
            <a:ext cx="1984233" cy="797301"/>
          </a:xfrm>
          <a:custGeom>
            <a:avLst/>
            <a:gdLst/>
            <a:ahLst/>
            <a:cxnLst/>
            <a:rect l="l" t="t" r="r" b="b"/>
            <a:pathLst>
              <a:path w="1984233" h="797301">
                <a:moveTo>
                  <a:pt x="1984233" y="0"/>
                </a:moveTo>
                <a:lnTo>
                  <a:pt x="0" y="0"/>
                </a:lnTo>
                <a:lnTo>
                  <a:pt x="0" y="797300"/>
                </a:lnTo>
                <a:lnTo>
                  <a:pt x="1984233" y="797300"/>
                </a:lnTo>
                <a:lnTo>
                  <a:pt x="1984233"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rot="-5400000">
            <a:off x="1810578" y="838844"/>
            <a:ext cx="774110" cy="1153823"/>
          </a:xfrm>
          <a:custGeom>
            <a:avLst/>
            <a:gdLst/>
            <a:ahLst/>
            <a:cxnLst/>
            <a:rect l="l" t="t" r="r" b="b"/>
            <a:pathLst>
              <a:path w="774110" h="1153823">
                <a:moveTo>
                  <a:pt x="0" y="0"/>
                </a:moveTo>
                <a:lnTo>
                  <a:pt x="774110" y="0"/>
                </a:lnTo>
                <a:lnTo>
                  <a:pt x="774110" y="1153822"/>
                </a:lnTo>
                <a:lnTo>
                  <a:pt x="0" y="115382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TextBox 6"/>
          <p:cNvSpPr txBox="1"/>
          <p:nvPr/>
        </p:nvSpPr>
        <p:spPr>
          <a:xfrm>
            <a:off x="1620721" y="3306090"/>
            <a:ext cx="6944533" cy="2507905"/>
          </a:xfrm>
          <a:prstGeom prst="rect">
            <a:avLst/>
          </a:prstGeom>
        </p:spPr>
        <p:txBody>
          <a:bodyPr lIns="0" tIns="0" rIns="0" bIns="0" rtlCol="0" anchor="t">
            <a:spAutoFit/>
          </a:bodyPr>
          <a:lstStyle/>
          <a:p>
            <a:pPr algn="l">
              <a:lnSpc>
                <a:spcPts val="3353"/>
              </a:lnSpc>
            </a:pPr>
            <a:r>
              <a:rPr lang="en-US" sz="2395">
                <a:solidFill>
                  <a:srgbClr val="000000"/>
                </a:solidFill>
                <a:latin typeface="Montserrat"/>
                <a:ea typeface="Montserrat"/>
                <a:cs typeface="Montserrat"/>
                <a:sym typeface="Montserrat"/>
              </a:rPr>
              <a:t>Data Sources</a:t>
            </a:r>
          </a:p>
          <a:p>
            <a:pPr marL="517200" lvl="1" indent="-258600" algn="l">
              <a:lnSpc>
                <a:spcPts val="3353"/>
              </a:lnSpc>
              <a:buFont typeface="Arial"/>
              <a:buChar char="•"/>
            </a:pPr>
            <a:r>
              <a:rPr lang="en-US" sz="2395">
                <a:solidFill>
                  <a:srgbClr val="000000"/>
                </a:solidFill>
                <a:latin typeface="Montserrat"/>
                <a:ea typeface="Montserrat"/>
                <a:cs typeface="Montserrat"/>
                <a:sym typeface="Montserrat"/>
              </a:rPr>
              <a:t>AQI Dataset (2022–2025)</a:t>
            </a:r>
          </a:p>
          <a:p>
            <a:pPr marL="517200" lvl="1" indent="-258600" algn="l">
              <a:lnSpc>
                <a:spcPts val="3353"/>
              </a:lnSpc>
              <a:buFont typeface="Arial"/>
              <a:buChar char="•"/>
            </a:pPr>
            <a:r>
              <a:rPr lang="en-US" sz="2395">
                <a:solidFill>
                  <a:srgbClr val="000000"/>
                </a:solidFill>
                <a:latin typeface="Montserrat"/>
                <a:ea typeface="Montserrat"/>
                <a:cs typeface="Montserrat"/>
                <a:sym typeface="Montserrat"/>
              </a:rPr>
              <a:t>Health Impact Data</a:t>
            </a:r>
          </a:p>
          <a:p>
            <a:pPr marL="517200" lvl="1" indent="-258600" algn="l">
              <a:lnSpc>
                <a:spcPts val="3353"/>
              </a:lnSpc>
              <a:buFont typeface="Arial"/>
              <a:buChar char="•"/>
            </a:pPr>
            <a:r>
              <a:rPr lang="en-US" sz="2395">
                <a:solidFill>
                  <a:srgbClr val="000000"/>
                </a:solidFill>
                <a:latin typeface="Montserrat"/>
                <a:ea typeface="Montserrat"/>
                <a:cs typeface="Montserrat"/>
                <a:sym typeface="Montserrat"/>
              </a:rPr>
              <a:t>Vehicle Density Data</a:t>
            </a:r>
          </a:p>
          <a:p>
            <a:pPr marL="517200" lvl="1" indent="-258600" algn="l">
              <a:lnSpc>
                <a:spcPts val="3353"/>
              </a:lnSpc>
              <a:buFont typeface="Arial"/>
              <a:buChar char="•"/>
            </a:pPr>
            <a:r>
              <a:rPr lang="en-US" sz="2395">
                <a:solidFill>
                  <a:srgbClr val="000000"/>
                </a:solidFill>
                <a:latin typeface="Montserrat"/>
                <a:ea typeface="Montserrat"/>
                <a:cs typeface="Montserrat"/>
                <a:sym typeface="Montserrat"/>
              </a:rPr>
              <a:t>Population Statistics</a:t>
            </a:r>
          </a:p>
          <a:p>
            <a:pPr algn="l">
              <a:lnSpc>
                <a:spcPts val="3353"/>
              </a:lnSpc>
            </a:pPr>
            <a:endParaRPr lang="en-US" sz="2395">
              <a:solidFill>
                <a:srgbClr val="000000"/>
              </a:solidFill>
              <a:latin typeface="Montserrat"/>
              <a:ea typeface="Montserrat"/>
              <a:cs typeface="Montserrat"/>
              <a:sym typeface="Montserrat"/>
            </a:endParaRPr>
          </a:p>
        </p:txBody>
      </p:sp>
      <p:sp>
        <p:nvSpPr>
          <p:cNvPr id="7" name="TextBox 7"/>
          <p:cNvSpPr txBox="1"/>
          <p:nvPr/>
        </p:nvSpPr>
        <p:spPr>
          <a:xfrm>
            <a:off x="1620721" y="1961172"/>
            <a:ext cx="7754895" cy="1087743"/>
          </a:xfrm>
          <a:prstGeom prst="rect">
            <a:avLst/>
          </a:prstGeom>
        </p:spPr>
        <p:txBody>
          <a:bodyPr lIns="0" tIns="0" rIns="0" bIns="0" rtlCol="0" anchor="t">
            <a:spAutoFit/>
          </a:bodyPr>
          <a:lstStyle/>
          <a:p>
            <a:pPr algn="l">
              <a:lnSpc>
                <a:spcPts val="8820"/>
              </a:lnSpc>
            </a:pPr>
            <a:r>
              <a:rPr lang="en-US" sz="6300" b="1">
                <a:solidFill>
                  <a:srgbClr val="000000"/>
                </a:solidFill>
                <a:latin typeface="Montserrat Bold"/>
                <a:ea typeface="Montserrat Bold"/>
                <a:cs typeface="Montserrat Bold"/>
                <a:sym typeface="Montserrat Bold"/>
              </a:rPr>
              <a:t>Technologies</a:t>
            </a:r>
          </a:p>
        </p:txBody>
      </p:sp>
      <p:sp>
        <p:nvSpPr>
          <p:cNvPr id="8" name="TextBox 8"/>
          <p:cNvSpPr txBox="1"/>
          <p:nvPr/>
        </p:nvSpPr>
        <p:spPr>
          <a:xfrm>
            <a:off x="1620721" y="5553614"/>
            <a:ext cx="8569985" cy="2086130"/>
          </a:xfrm>
          <a:prstGeom prst="rect">
            <a:avLst/>
          </a:prstGeom>
        </p:spPr>
        <p:txBody>
          <a:bodyPr lIns="0" tIns="0" rIns="0" bIns="0" rtlCol="0" anchor="t">
            <a:spAutoFit/>
          </a:bodyPr>
          <a:lstStyle/>
          <a:p>
            <a:pPr algn="l">
              <a:lnSpc>
                <a:spcPts val="3353"/>
              </a:lnSpc>
            </a:pPr>
            <a:r>
              <a:rPr lang="en-US" sz="2395">
                <a:solidFill>
                  <a:srgbClr val="000000"/>
                </a:solidFill>
                <a:latin typeface="Montserrat"/>
                <a:ea typeface="Montserrat"/>
                <a:cs typeface="Montserrat"/>
                <a:sym typeface="Montserrat"/>
              </a:rPr>
              <a:t>Data Processing &amp; Analysis</a:t>
            </a:r>
          </a:p>
          <a:p>
            <a:pPr marL="517200" lvl="1" indent="-258600" algn="l">
              <a:lnSpc>
                <a:spcPts val="3353"/>
              </a:lnSpc>
              <a:buFont typeface="Arial"/>
              <a:buChar char="•"/>
            </a:pPr>
            <a:r>
              <a:rPr lang="en-US" sz="2395">
                <a:solidFill>
                  <a:srgbClr val="000000"/>
                </a:solidFill>
                <a:latin typeface="Montserrat"/>
                <a:ea typeface="Montserrat"/>
                <a:cs typeface="Montserrat"/>
                <a:sym typeface="Montserrat"/>
              </a:rPr>
              <a:t>Python – Data cleaning, transformation, and correlation analysis</a:t>
            </a:r>
          </a:p>
          <a:p>
            <a:pPr marL="517200" lvl="1" indent="-258600" algn="l">
              <a:lnSpc>
                <a:spcPts val="3353"/>
              </a:lnSpc>
              <a:buFont typeface="Arial"/>
              <a:buChar char="•"/>
            </a:pPr>
            <a:r>
              <a:rPr lang="en-US" sz="2395">
                <a:solidFill>
                  <a:srgbClr val="000000"/>
                </a:solidFill>
                <a:latin typeface="Montserrat"/>
                <a:ea typeface="Montserrat"/>
                <a:cs typeface="Montserrat"/>
                <a:sym typeface="Montserrat"/>
              </a:rPr>
              <a:t>SQL – Querying and managing structured datasets</a:t>
            </a:r>
          </a:p>
          <a:p>
            <a:pPr algn="l">
              <a:lnSpc>
                <a:spcPts val="3353"/>
              </a:lnSpc>
            </a:pPr>
            <a:endParaRPr lang="en-US" sz="2395">
              <a:solidFill>
                <a:srgbClr val="000000"/>
              </a:solidFill>
              <a:latin typeface="Montserrat"/>
              <a:ea typeface="Montserrat"/>
              <a:cs typeface="Montserrat"/>
              <a:sym typeface="Montserrat"/>
            </a:endParaRPr>
          </a:p>
        </p:txBody>
      </p:sp>
      <p:sp>
        <p:nvSpPr>
          <p:cNvPr id="9" name="TextBox 9"/>
          <p:cNvSpPr txBox="1"/>
          <p:nvPr/>
        </p:nvSpPr>
        <p:spPr>
          <a:xfrm>
            <a:off x="1620721" y="7395257"/>
            <a:ext cx="8569985" cy="1242579"/>
          </a:xfrm>
          <a:prstGeom prst="rect">
            <a:avLst/>
          </a:prstGeom>
        </p:spPr>
        <p:txBody>
          <a:bodyPr lIns="0" tIns="0" rIns="0" bIns="0" rtlCol="0" anchor="t">
            <a:spAutoFit/>
          </a:bodyPr>
          <a:lstStyle/>
          <a:p>
            <a:pPr algn="l">
              <a:lnSpc>
                <a:spcPts val="3353"/>
              </a:lnSpc>
            </a:pPr>
            <a:r>
              <a:rPr lang="en-US" sz="2395">
                <a:solidFill>
                  <a:srgbClr val="000000"/>
                </a:solidFill>
                <a:latin typeface="Montserrat"/>
                <a:ea typeface="Montserrat"/>
                <a:cs typeface="Montserrat"/>
                <a:sym typeface="Montserrat"/>
              </a:rPr>
              <a:t>Visualization &amp; Dashboarding</a:t>
            </a:r>
          </a:p>
          <a:p>
            <a:pPr marL="517200" lvl="1" indent="-258600" algn="l">
              <a:lnSpc>
                <a:spcPts val="3353"/>
              </a:lnSpc>
              <a:buFont typeface="Arial"/>
              <a:buChar char="•"/>
            </a:pPr>
            <a:r>
              <a:rPr lang="en-US" sz="2395">
                <a:solidFill>
                  <a:srgbClr val="000000"/>
                </a:solidFill>
                <a:latin typeface="Montserrat"/>
                <a:ea typeface="Montserrat"/>
                <a:cs typeface="Montserrat"/>
                <a:sym typeface="Montserrat"/>
              </a:rPr>
              <a:t>Power BI – Interactive dashboards </a:t>
            </a:r>
          </a:p>
          <a:p>
            <a:pPr algn="l">
              <a:lnSpc>
                <a:spcPts val="3353"/>
              </a:lnSpc>
            </a:pPr>
            <a:endParaRPr lang="en-US" sz="2395">
              <a:solidFill>
                <a:srgbClr val="000000"/>
              </a:solidFill>
              <a:latin typeface="Montserrat"/>
              <a:ea typeface="Montserrat"/>
              <a:cs typeface="Montserrat"/>
              <a:sym typeface="Montserrat"/>
            </a:endParaRPr>
          </a:p>
        </p:txBody>
      </p:sp>
      <p:sp>
        <p:nvSpPr>
          <p:cNvPr id="10" name="Freeform 10"/>
          <p:cNvSpPr/>
          <p:nvPr/>
        </p:nvSpPr>
        <p:spPr>
          <a:xfrm>
            <a:off x="10998680" y="2647257"/>
            <a:ext cx="4766346" cy="4992487"/>
          </a:xfrm>
          <a:custGeom>
            <a:avLst/>
            <a:gdLst/>
            <a:ahLst/>
            <a:cxnLst/>
            <a:rect l="l" t="t" r="r" b="b"/>
            <a:pathLst>
              <a:path w="4766346" h="4992487">
                <a:moveTo>
                  <a:pt x="0" y="0"/>
                </a:moveTo>
                <a:lnTo>
                  <a:pt x="4766346" y="0"/>
                </a:lnTo>
                <a:lnTo>
                  <a:pt x="4766346" y="4992486"/>
                </a:lnTo>
                <a:lnTo>
                  <a:pt x="0" y="499248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5638" b="-75638"/>
            </a:stretch>
          </a:blipFill>
        </p:spPr>
      </p:sp>
      <p:sp>
        <p:nvSpPr>
          <p:cNvPr id="3" name="Freeform 3"/>
          <p:cNvSpPr/>
          <p:nvPr/>
        </p:nvSpPr>
        <p:spPr>
          <a:xfrm>
            <a:off x="-983249" y="-343278"/>
            <a:ext cx="6793495" cy="6793495"/>
          </a:xfrm>
          <a:custGeom>
            <a:avLst/>
            <a:gdLst/>
            <a:ahLst/>
            <a:cxnLst/>
            <a:rect l="l" t="t" r="r" b="b"/>
            <a:pathLst>
              <a:path w="6793495" h="6793495">
                <a:moveTo>
                  <a:pt x="0" y="0"/>
                </a:moveTo>
                <a:lnTo>
                  <a:pt x="6793495" y="0"/>
                </a:lnTo>
                <a:lnTo>
                  <a:pt x="6793495" y="6793495"/>
                </a:lnTo>
                <a:lnTo>
                  <a:pt x="0" y="679349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a:off x="15275067" y="8859650"/>
            <a:ext cx="1984233" cy="797301"/>
          </a:xfrm>
          <a:custGeom>
            <a:avLst/>
            <a:gdLst/>
            <a:ahLst/>
            <a:cxnLst/>
            <a:rect l="l" t="t" r="r" b="b"/>
            <a:pathLst>
              <a:path w="1984233" h="797301">
                <a:moveTo>
                  <a:pt x="1984233" y="0"/>
                </a:moveTo>
                <a:lnTo>
                  <a:pt x="0" y="0"/>
                </a:lnTo>
                <a:lnTo>
                  <a:pt x="0" y="797300"/>
                </a:lnTo>
                <a:lnTo>
                  <a:pt x="1984233" y="797300"/>
                </a:lnTo>
                <a:lnTo>
                  <a:pt x="1984233"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rot="-5400000">
            <a:off x="5107371" y="1381680"/>
            <a:ext cx="774110" cy="1153823"/>
          </a:xfrm>
          <a:custGeom>
            <a:avLst/>
            <a:gdLst/>
            <a:ahLst/>
            <a:cxnLst/>
            <a:rect l="l" t="t" r="r" b="b"/>
            <a:pathLst>
              <a:path w="774110" h="1153823">
                <a:moveTo>
                  <a:pt x="0" y="0"/>
                </a:moveTo>
                <a:lnTo>
                  <a:pt x="774110" y="0"/>
                </a:lnTo>
                <a:lnTo>
                  <a:pt x="774110" y="1153822"/>
                </a:lnTo>
                <a:lnTo>
                  <a:pt x="0" y="115382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TextBox 6"/>
          <p:cNvSpPr txBox="1"/>
          <p:nvPr/>
        </p:nvSpPr>
        <p:spPr>
          <a:xfrm>
            <a:off x="6565233" y="790832"/>
            <a:ext cx="9335813" cy="2202168"/>
          </a:xfrm>
          <a:prstGeom prst="rect">
            <a:avLst/>
          </a:prstGeom>
        </p:spPr>
        <p:txBody>
          <a:bodyPr lIns="0" tIns="0" rIns="0" bIns="0" rtlCol="0" anchor="t">
            <a:spAutoFit/>
          </a:bodyPr>
          <a:lstStyle/>
          <a:p>
            <a:pPr algn="l">
              <a:lnSpc>
                <a:spcPts val="8820"/>
              </a:lnSpc>
            </a:pPr>
            <a:r>
              <a:rPr lang="en-US" sz="6300" b="1">
                <a:solidFill>
                  <a:srgbClr val="000000"/>
                </a:solidFill>
                <a:latin typeface="Montserrat Bold"/>
                <a:ea typeface="Montserrat Bold"/>
                <a:cs typeface="Montserrat Bold"/>
                <a:sym typeface="Montserrat Bold"/>
              </a:rPr>
              <a:t>Industry Relevance and Key Benefits</a:t>
            </a:r>
          </a:p>
        </p:txBody>
      </p:sp>
      <p:sp>
        <p:nvSpPr>
          <p:cNvPr id="7" name="Freeform 7"/>
          <p:cNvSpPr/>
          <p:nvPr/>
        </p:nvSpPr>
        <p:spPr>
          <a:xfrm>
            <a:off x="14738211" y="-562766"/>
            <a:ext cx="4096792" cy="4114800"/>
          </a:xfrm>
          <a:custGeom>
            <a:avLst/>
            <a:gdLst/>
            <a:ahLst/>
            <a:cxnLst/>
            <a:rect l="l" t="t" r="r" b="b"/>
            <a:pathLst>
              <a:path w="4096792" h="4114800">
                <a:moveTo>
                  <a:pt x="0" y="0"/>
                </a:moveTo>
                <a:lnTo>
                  <a:pt x="4096792" y="0"/>
                </a:lnTo>
                <a:lnTo>
                  <a:pt x="4096792"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8" name="TextBox 8"/>
          <p:cNvSpPr txBox="1"/>
          <p:nvPr/>
        </p:nvSpPr>
        <p:spPr>
          <a:xfrm>
            <a:off x="6565233" y="3439562"/>
            <a:ext cx="11161663" cy="4616782"/>
          </a:xfrm>
          <a:prstGeom prst="rect">
            <a:avLst/>
          </a:prstGeom>
        </p:spPr>
        <p:txBody>
          <a:bodyPr lIns="0" tIns="0" rIns="0" bIns="0" rtlCol="0" anchor="t">
            <a:spAutoFit/>
          </a:bodyPr>
          <a:lstStyle/>
          <a:p>
            <a:pPr algn="l">
              <a:lnSpc>
                <a:spcPts val="3353"/>
              </a:lnSpc>
            </a:pPr>
            <a:r>
              <a:rPr lang="en-US" sz="2395">
                <a:solidFill>
                  <a:srgbClr val="000000"/>
                </a:solidFill>
                <a:latin typeface="Montserrat"/>
                <a:ea typeface="Montserrat"/>
                <a:cs typeface="Montserrat"/>
                <a:sym typeface="Montserrat"/>
              </a:rPr>
              <a:t>This project is relevant to industry because it helps companies use data to make better decisions. Using AQI and health data, the project helps to:</a:t>
            </a:r>
          </a:p>
          <a:p>
            <a:pPr marL="517200" lvl="1" indent="-258600" algn="l">
              <a:lnSpc>
                <a:spcPts val="3353"/>
              </a:lnSpc>
              <a:buFont typeface="Arial"/>
              <a:buChar char="•"/>
            </a:pPr>
            <a:r>
              <a:rPr lang="en-US" sz="2395">
                <a:solidFill>
                  <a:srgbClr val="000000"/>
                </a:solidFill>
                <a:latin typeface="Montserrat"/>
                <a:ea typeface="Montserrat"/>
                <a:cs typeface="Montserrat"/>
                <a:sym typeface="Montserrat"/>
              </a:rPr>
              <a:t>validate whether there is a real market need for air purifiers</a:t>
            </a:r>
          </a:p>
          <a:p>
            <a:pPr marL="517200" lvl="1" indent="-258600" algn="l">
              <a:lnSpc>
                <a:spcPts val="3353"/>
              </a:lnSpc>
              <a:buFont typeface="Arial"/>
              <a:buChar char="•"/>
            </a:pPr>
            <a:r>
              <a:rPr lang="en-US" sz="2395">
                <a:solidFill>
                  <a:srgbClr val="000000"/>
                </a:solidFill>
                <a:latin typeface="Montserrat"/>
                <a:ea typeface="Montserrat"/>
                <a:cs typeface="Montserrat"/>
                <a:sym typeface="Montserrat"/>
              </a:rPr>
              <a:t>design products that target the most harmful pollutants</a:t>
            </a:r>
          </a:p>
          <a:p>
            <a:pPr marL="517200" lvl="1" indent="-258600" algn="l">
              <a:lnSpc>
                <a:spcPts val="3353"/>
              </a:lnSpc>
              <a:buFont typeface="Arial"/>
              <a:buChar char="•"/>
            </a:pPr>
            <a:r>
              <a:rPr lang="en-US" sz="2395">
                <a:solidFill>
                  <a:srgbClr val="000000"/>
                </a:solidFill>
                <a:latin typeface="Montserrat"/>
                <a:ea typeface="Montserrat"/>
                <a:cs typeface="Montserrat"/>
                <a:sym typeface="Montserrat"/>
              </a:rPr>
              <a:t>identify cities where demand for air purifiers is high</a:t>
            </a:r>
          </a:p>
          <a:p>
            <a:pPr marL="517200" lvl="1" indent="-258600" algn="l">
              <a:lnSpc>
                <a:spcPts val="3353"/>
              </a:lnSpc>
              <a:buFont typeface="Arial"/>
              <a:buChar char="•"/>
            </a:pPr>
            <a:r>
              <a:rPr lang="en-US" sz="2395">
                <a:solidFill>
                  <a:srgbClr val="000000"/>
                </a:solidFill>
                <a:latin typeface="Montserrat"/>
                <a:ea typeface="Montserrat"/>
                <a:cs typeface="Montserrat"/>
                <a:sym typeface="Montserrat"/>
              </a:rPr>
              <a:t>reduce business risk before investing in product development</a:t>
            </a:r>
          </a:p>
          <a:p>
            <a:pPr algn="l">
              <a:lnSpc>
                <a:spcPts val="3353"/>
              </a:lnSpc>
            </a:pPr>
            <a:r>
              <a:rPr lang="en-US" sz="2395">
                <a:solidFill>
                  <a:srgbClr val="000000"/>
                </a:solidFill>
                <a:latin typeface="Montserrat"/>
                <a:ea typeface="Montserrat"/>
                <a:cs typeface="Montserrat"/>
                <a:sym typeface="Montserrat"/>
              </a:rPr>
              <a:t>Similar approaches are used by companies like Dyson and Philips, which analyze air quality data to design effective air purifiers and focus on high-pollution cities such as Delhi NCR. AQI dashboards are also used in offices and hotels to monitor air quality and ensure customer safety.</a:t>
            </a:r>
          </a:p>
          <a:p>
            <a:pPr algn="l">
              <a:lnSpc>
                <a:spcPts val="3353"/>
              </a:lnSpc>
            </a:pPr>
            <a:endParaRPr lang="en-US" sz="2395">
              <a:solidFill>
                <a:srgbClr val="000000"/>
              </a:solidFill>
              <a:latin typeface="Montserrat"/>
              <a:ea typeface="Montserrat"/>
              <a:cs typeface="Montserrat"/>
              <a:sym typeface="Montserrat"/>
            </a:endParaRPr>
          </a:p>
        </p:txBody>
      </p:sp>
      <p:sp>
        <p:nvSpPr>
          <p:cNvPr id="9" name="Freeform 9"/>
          <p:cNvSpPr/>
          <p:nvPr/>
        </p:nvSpPr>
        <p:spPr>
          <a:xfrm>
            <a:off x="1140354" y="2732701"/>
            <a:ext cx="5323643" cy="5323643"/>
          </a:xfrm>
          <a:custGeom>
            <a:avLst/>
            <a:gdLst/>
            <a:ahLst/>
            <a:cxnLst/>
            <a:rect l="l" t="t" r="r" b="b"/>
            <a:pathLst>
              <a:path w="5323643" h="5323643">
                <a:moveTo>
                  <a:pt x="0" y="0"/>
                </a:moveTo>
                <a:lnTo>
                  <a:pt x="5323642" y="0"/>
                </a:lnTo>
                <a:lnTo>
                  <a:pt x="5323642" y="5323643"/>
                </a:lnTo>
                <a:lnTo>
                  <a:pt x="0" y="5323643"/>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5638" b="-75638"/>
            </a:stretch>
          </a:blipFill>
        </p:spPr>
      </p:sp>
      <p:sp>
        <p:nvSpPr>
          <p:cNvPr id="3" name="Freeform 3"/>
          <p:cNvSpPr/>
          <p:nvPr/>
        </p:nvSpPr>
        <p:spPr>
          <a:xfrm>
            <a:off x="-983249" y="-343278"/>
            <a:ext cx="6793495" cy="6793495"/>
          </a:xfrm>
          <a:custGeom>
            <a:avLst/>
            <a:gdLst/>
            <a:ahLst/>
            <a:cxnLst/>
            <a:rect l="l" t="t" r="r" b="b"/>
            <a:pathLst>
              <a:path w="6793495" h="6793495">
                <a:moveTo>
                  <a:pt x="0" y="0"/>
                </a:moveTo>
                <a:lnTo>
                  <a:pt x="6793495" y="0"/>
                </a:lnTo>
                <a:lnTo>
                  <a:pt x="6793495" y="6793495"/>
                </a:lnTo>
                <a:lnTo>
                  <a:pt x="0" y="679349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flipH="1">
            <a:off x="15275067" y="8859650"/>
            <a:ext cx="1984233" cy="797301"/>
          </a:xfrm>
          <a:custGeom>
            <a:avLst/>
            <a:gdLst/>
            <a:ahLst/>
            <a:cxnLst/>
            <a:rect l="l" t="t" r="r" b="b"/>
            <a:pathLst>
              <a:path w="1984233" h="797301">
                <a:moveTo>
                  <a:pt x="1984233" y="0"/>
                </a:moveTo>
                <a:lnTo>
                  <a:pt x="0" y="0"/>
                </a:lnTo>
                <a:lnTo>
                  <a:pt x="0" y="797300"/>
                </a:lnTo>
                <a:lnTo>
                  <a:pt x="1984233" y="797300"/>
                </a:lnTo>
                <a:lnTo>
                  <a:pt x="1984233"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rot="-5400000">
            <a:off x="9694262" y="1583264"/>
            <a:ext cx="774110" cy="1153823"/>
          </a:xfrm>
          <a:custGeom>
            <a:avLst/>
            <a:gdLst/>
            <a:ahLst/>
            <a:cxnLst/>
            <a:rect l="l" t="t" r="r" b="b"/>
            <a:pathLst>
              <a:path w="774110" h="1153823">
                <a:moveTo>
                  <a:pt x="0" y="0"/>
                </a:moveTo>
                <a:lnTo>
                  <a:pt x="774110" y="0"/>
                </a:lnTo>
                <a:lnTo>
                  <a:pt x="774110" y="1153823"/>
                </a:lnTo>
                <a:lnTo>
                  <a:pt x="0" y="115382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a:off x="14738211" y="-562766"/>
            <a:ext cx="4096792" cy="4114800"/>
          </a:xfrm>
          <a:custGeom>
            <a:avLst/>
            <a:gdLst/>
            <a:ahLst/>
            <a:cxnLst/>
            <a:rect l="l" t="t" r="r" b="b"/>
            <a:pathLst>
              <a:path w="4096792" h="4114800">
                <a:moveTo>
                  <a:pt x="0" y="0"/>
                </a:moveTo>
                <a:lnTo>
                  <a:pt x="4096792" y="0"/>
                </a:lnTo>
                <a:lnTo>
                  <a:pt x="4096792"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TextBox 7"/>
          <p:cNvSpPr txBox="1"/>
          <p:nvPr/>
        </p:nvSpPr>
        <p:spPr>
          <a:xfrm>
            <a:off x="9504405" y="4103032"/>
            <a:ext cx="7754895" cy="2929680"/>
          </a:xfrm>
          <a:prstGeom prst="rect">
            <a:avLst/>
          </a:prstGeom>
        </p:spPr>
        <p:txBody>
          <a:bodyPr lIns="0" tIns="0" rIns="0" bIns="0" rtlCol="0" anchor="t">
            <a:spAutoFit/>
          </a:bodyPr>
          <a:lstStyle/>
          <a:p>
            <a:pPr algn="l">
              <a:lnSpc>
                <a:spcPts val="3353"/>
              </a:lnSpc>
            </a:pPr>
            <a:r>
              <a:rPr lang="en-US" sz="2395">
                <a:solidFill>
                  <a:srgbClr val="000000"/>
                </a:solidFill>
                <a:latin typeface="Montserrat"/>
                <a:ea typeface="Montserrat"/>
                <a:cs typeface="Montserrat"/>
                <a:sym typeface="Montserrat"/>
              </a:rPr>
              <a:t>In conclusion, this project uses air quality data and related information to understand whether there is real demand for air purifiers. It helps identify the right cities to launch the product, the main pollutants to focus on, and how to design the product based on local pollution conditions using data-based insights.</a:t>
            </a:r>
          </a:p>
        </p:txBody>
      </p:sp>
      <p:sp>
        <p:nvSpPr>
          <p:cNvPr id="8" name="TextBox 8"/>
          <p:cNvSpPr txBox="1"/>
          <p:nvPr/>
        </p:nvSpPr>
        <p:spPr>
          <a:xfrm>
            <a:off x="9504405" y="2599351"/>
            <a:ext cx="7754895" cy="1087743"/>
          </a:xfrm>
          <a:prstGeom prst="rect">
            <a:avLst/>
          </a:prstGeom>
        </p:spPr>
        <p:txBody>
          <a:bodyPr lIns="0" tIns="0" rIns="0" bIns="0" rtlCol="0" anchor="t">
            <a:spAutoFit/>
          </a:bodyPr>
          <a:lstStyle/>
          <a:p>
            <a:pPr algn="l">
              <a:lnSpc>
                <a:spcPts val="8820"/>
              </a:lnSpc>
            </a:pPr>
            <a:r>
              <a:rPr lang="en-US" sz="6300" b="1">
                <a:solidFill>
                  <a:srgbClr val="000000"/>
                </a:solidFill>
                <a:latin typeface="Montserrat Bold"/>
                <a:ea typeface="Montserrat Bold"/>
                <a:cs typeface="Montserrat Bold"/>
                <a:sym typeface="Montserrat Bold"/>
              </a:rPr>
              <a:t>Conclusion</a:t>
            </a:r>
          </a:p>
        </p:txBody>
      </p:sp>
      <p:sp>
        <p:nvSpPr>
          <p:cNvPr id="9" name="Freeform 9"/>
          <p:cNvSpPr/>
          <p:nvPr/>
        </p:nvSpPr>
        <p:spPr>
          <a:xfrm>
            <a:off x="1689121" y="3401713"/>
            <a:ext cx="7315200" cy="3630999"/>
          </a:xfrm>
          <a:custGeom>
            <a:avLst/>
            <a:gdLst/>
            <a:ahLst/>
            <a:cxnLst/>
            <a:rect l="l" t="t" r="r" b="b"/>
            <a:pathLst>
              <a:path w="7315200" h="3630999">
                <a:moveTo>
                  <a:pt x="0" y="0"/>
                </a:moveTo>
                <a:lnTo>
                  <a:pt x="7315200" y="0"/>
                </a:lnTo>
                <a:lnTo>
                  <a:pt x="7315200" y="3631000"/>
                </a:lnTo>
                <a:lnTo>
                  <a:pt x="0" y="363100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5638" b="-75638"/>
            </a:stretch>
          </a:blipFill>
        </p:spPr>
      </p:sp>
      <p:sp>
        <p:nvSpPr>
          <p:cNvPr id="3" name="Freeform 3"/>
          <p:cNvSpPr/>
          <p:nvPr/>
        </p:nvSpPr>
        <p:spPr>
          <a:xfrm>
            <a:off x="1028700" y="1028700"/>
            <a:ext cx="8095869" cy="8229600"/>
          </a:xfrm>
          <a:custGeom>
            <a:avLst/>
            <a:gdLst/>
            <a:ahLst/>
            <a:cxnLst/>
            <a:rect l="l" t="t" r="r" b="b"/>
            <a:pathLst>
              <a:path w="8095869" h="8229600">
                <a:moveTo>
                  <a:pt x="0" y="0"/>
                </a:moveTo>
                <a:lnTo>
                  <a:pt x="8095869" y="0"/>
                </a:lnTo>
                <a:lnTo>
                  <a:pt x="8095869" y="8229600"/>
                </a:lnTo>
                <a:lnTo>
                  <a:pt x="0" y="8229600"/>
                </a:lnTo>
                <a:lnTo>
                  <a:pt x="0" y="0"/>
                </a:lnTo>
                <a:close/>
              </a:path>
            </a:pathLst>
          </a:custGeom>
          <a:blipFill>
            <a:blip r:embed="rId3"/>
            <a:stretch>
              <a:fillRect/>
            </a:stretch>
          </a:blipFill>
        </p:spPr>
      </p:sp>
      <p:sp>
        <p:nvSpPr>
          <p:cNvPr id="4" name="Freeform 4"/>
          <p:cNvSpPr/>
          <p:nvPr/>
        </p:nvSpPr>
        <p:spPr>
          <a:xfrm>
            <a:off x="-139123" y="-222876"/>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14173200" y="-222876"/>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9445906" y="3674985"/>
            <a:ext cx="8842094" cy="1317515"/>
          </a:xfrm>
          <a:prstGeom prst="rect">
            <a:avLst/>
          </a:prstGeom>
        </p:spPr>
        <p:txBody>
          <a:bodyPr lIns="0" tIns="0" rIns="0" bIns="0" rtlCol="0" anchor="t">
            <a:spAutoFit/>
          </a:bodyPr>
          <a:lstStyle/>
          <a:p>
            <a:pPr algn="l">
              <a:lnSpc>
                <a:spcPts val="9641"/>
              </a:lnSpc>
            </a:pPr>
            <a:r>
              <a:rPr lang="en-US" sz="10367" b="1">
                <a:solidFill>
                  <a:srgbClr val="000000"/>
                </a:solidFill>
                <a:latin typeface="Bricolage Grotesque Bold"/>
                <a:ea typeface="Bricolage Grotesque Bold"/>
                <a:cs typeface="Bricolage Grotesque Bold"/>
                <a:sym typeface="Bricolage Grotesque Bold"/>
              </a:rPr>
              <a:t>THANK YOU</a:t>
            </a:r>
          </a:p>
        </p:txBody>
      </p:sp>
      <p:sp>
        <p:nvSpPr>
          <p:cNvPr id="7" name="TextBox 7"/>
          <p:cNvSpPr txBox="1"/>
          <p:nvPr/>
        </p:nvSpPr>
        <p:spPr>
          <a:xfrm>
            <a:off x="9445906" y="6089626"/>
            <a:ext cx="5085355" cy="671599"/>
          </a:xfrm>
          <a:prstGeom prst="rect">
            <a:avLst/>
          </a:prstGeom>
        </p:spPr>
        <p:txBody>
          <a:bodyPr lIns="0" tIns="0" rIns="0" bIns="0" rtlCol="0" anchor="t">
            <a:spAutoFit/>
          </a:bodyPr>
          <a:lstStyle/>
          <a:p>
            <a:pPr algn="l">
              <a:lnSpc>
                <a:spcPts val="5534"/>
              </a:lnSpc>
            </a:pPr>
            <a:r>
              <a:rPr lang="en-US" sz="3953">
                <a:solidFill>
                  <a:srgbClr val="000000"/>
                </a:solidFill>
                <a:latin typeface="Montserrat"/>
                <a:ea typeface="Montserrat"/>
                <a:cs typeface="Montserrat"/>
                <a:sym typeface="Montserrat"/>
              </a:rPr>
              <a:t>Presented By :</a:t>
            </a:r>
          </a:p>
        </p:txBody>
      </p:sp>
      <p:sp>
        <p:nvSpPr>
          <p:cNvPr id="8" name="TextBox 8"/>
          <p:cNvSpPr txBox="1"/>
          <p:nvPr/>
        </p:nvSpPr>
        <p:spPr>
          <a:xfrm>
            <a:off x="9445906" y="6656449"/>
            <a:ext cx="6462563" cy="920062"/>
          </a:xfrm>
          <a:prstGeom prst="rect">
            <a:avLst/>
          </a:prstGeom>
        </p:spPr>
        <p:txBody>
          <a:bodyPr lIns="0" tIns="0" rIns="0" bIns="0" rtlCol="0" anchor="t">
            <a:spAutoFit/>
          </a:bodyPr>
          <a:lstStyle/>
          <a:p>
            <a:pPr algn="l">
              <a:lnSpc>
                <a:spcPts val="7490"/>
              </a:lnSpc>
            </a:pPr>
            <a:r>
              <a:rPr lang="en-US" sz="5350" b="1">
                <a:solidFill>
                  <a:srgbClr val="000000"/>
                </a:solidFill>
                <a:latin typeface="Montserrat Bold"/>
                <a:ea typeface="Montserrat Bold"/>
                <a:cs typeface="Montserrat Bold"/>
                <a:sym typeface="Montserrat Bold"/>
              </a:rPr>
              <a:t>SAHITH UPPALA</a:t>
            </a:r>
          </a:p>
        </p:txBody>
      </p:sp>
      <p:sp>
        <p:nvSpPr>
          <p:cNvPr id="9" name="Freeform 9"/>
          <p:cNvSpPr/>
          <p:nvPr/>
        </p:nvSpPr>
        <p:spPr>
          <a:xfrm flipH="1">
            <a:off x="15275067" y="8859650"/>
            <a:ext cx="1984233" cy="797301"/>
          </a:xfrm>
          <a:custGeom>
            <a:avLst/>
            <a:gdLst/>
            <a:ahLst/>
            <a:cxnLst/>
            <a:rect l="l" t="t" r="r" b="b"/>
            <a:pathLst>
              <a:path w="1984233" h="797301">
                <a:moveTo>
                  <a:pt x="1984233" y="0"/>
                </a:moveTo>
                <a:lnTo>
                  <a:pt x="0" y="0"/>
                </a:lnTo>
                <a:lnTo>
                  <a:pt x="0" y="797300"/>
                </a:lnTo>
                <a:lnTo>
                  <a:pt x="1984233" y="797300"/>
                </a:lnTo>
                <a:lnTo>
                  <a:pt x="1984233"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477</Words>
  <Application>Microsoft Office PowerPoint</Application>
  <PresentationFormat>Custom</PresentationFormat>
  <Paragraphs>40</Paragraphs>
  <Slides>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Bricolage Grotesque Bold</vt:lpstr>
      <vt:lpstr>Canva Sans Bold</vt:lpstr>
      <vt:lpstr>Montserrat</vt:lpstr>
      <vt:lpstr>Montserrat Bold</vt:lpstr>
      <vt:lpstr>Bricolage Grotesque</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Introducing our new Project Air Quality Index Analytics–Based Market and Product Insights</dc:title>
  <cp:lastModifiedBy>sahith uppala</cp:lastModifiedBy>
  <cp:revision>3</cp:revision>
  <dcterms:created xsi:type="dcterms:W3CDTF">2006-08-16T00:00:00Z</dcterms:created>
  <dcterms:modified xsi:type="dcterms:W3CDTF">2026-02-12T19:04:11Z</dcterms:modified>
  <dc:identifier>DAG_3nerht0</dc:identifier>
</cp:coreProperties>
</file>